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0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48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3023273" y="240030"/>
            <a:ext cx="2286000" cy="2286000"/>
          </a:xfrm>
          <a:prstGeom prst="ellipse">
            <a:avLst/>
          </a:prstGeom>
          <a:solidFill>
            <a:srgbClr val="028090"/>
          </a:solidFill>
          <a:ln/>
          <a:effectLst>
            <a:outerShdw blurRad="127000" dist="508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471" y="70866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71800"/>
            <a:ext cx="76755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RESEARCH AGENT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1371600" y="4023360"/>
            <a:ext cx="6400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Revolutionary RAG System for Private Document Analysis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013: Bala Swamy • Eswar • Durga Reddy • Devesh • Sakshi  |  SIC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&amp; 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38404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Systems Fail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1645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(15+ seconds)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0391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20391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accuracy (60-75%)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43230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51560" y="24323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learning capability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8254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51560" y="28254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storage needs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321868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51560" y="32186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611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</a:rPr>
              <a:t>✗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5156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context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028090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914400"/>
            <a:ext cx="73152" cy="384048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9496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Revolutionary System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4592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57800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Advanced Technologies</a:t>
            </a:r>
            <a:endParaRPr lang="en-US" sz="13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03911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20391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7-second responses (53% faster)</a:t>
            </a:r>
            <a:endParaRPr lang="en-US" sz="13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432304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57800" y="2432304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consistency</a:t>
            </a:r>
            <a:endParaRPr lang="en-US" sz="13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25496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57800" y="282549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continuous improvement</a:t>
            </a:r>
            <a:endParaRPr lang="en-US" sz="13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18688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57800" y="321868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80:1 compression ratio</a:t>
            </a:r>
            <a:endParaRPr lang="en-US" sz="13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611880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57800" y="3611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&amp; contextual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365760" y="4892040"/>
            <a:ext cx="8412480" cy="13716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REVOLUTIONARY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137160"/>
          </a:xfrm>
          <a:prstGeom prst="rect">
            <a:avLst/>
          </a:prstGeom>
          <a:solidFill>
            <a:srgbClr val="028090"/>
          </a:solidFill>
          <a:ln/>
        </p:spPr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8CA1B5B-CDC4-D361-2451-45C08A7B0E7F}"/>
              </a:ext>
            </a:extLst>
          </p:cNvPr>
          <p:cNvGrpSpPr/>
          <p:nvPr/>
        </p:nvGrpSpPr>
        <p:grpSpPr>
          <a:xfrm>
            <a:off x="646736" y="1574163"/>
            <a:ext cx="731520" cy="731520"/>
            <a:chOff x="731520" y="1325880"/>
            <a:chExt cx="731520" cy="731520"/>
          </a:xfrm>
        </p:grpSpPr>
        <p:sp>
          <p:nvSpPr>
            <p:cNvPr id="6" name="Shape 4"/>
            <p:cNvSpPr/>
            <p:nvPr/>
          </p:nvSpPr>
          <p:spPr>
            <a:xfrm>
              <a:off x="731520" y="1325880"/>
              <a:ext cx="731520" cy="731520"/>
            </a:xfrm>
            <a:prstGeom prst="ellipse">
              <a:avLst/>
            </a:prstGeom>
            <a:solidFill>
              <a:srgbClr val="028090"/>
            </a:solidFill>
            <a:ln/>
          </p:spPr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1508760"/>
              <a:ext cx="365760" cy="36576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128016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Quantum-Inspired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1031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97480" y="12344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37560" y="1005840"/>
            <a:ext cx="2697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005840"/>
            <a:ext cx="2697480" cy="137160"/>
          </a:xfrm>
          <a:prstGeom prst="rect">
            <a:avLst/>
          </a:prstGeom>
          <a:solidFill>
            <a:srgbClr val="8B5CF6"/>
          </a:solidFill>
          <a:ln/>
        </p:spPr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69B5D2C-6D4B-9D78-A57B-55B7981B0707}"/>
              </a:ext>
            </a:extLst>
          </p:cNvPr>
          <p:cNvGrpSpPr/>
          <p:nvPr/>
        </p:nvGrpSpPr>
        <p:grpSpPr>
          <a:xfrm>
            <a:off x="3587656" y="1580217"/>
            <a:ext cx="731520" cy="731520"/>
            <a:chOff x="3611880" y="1325880"/>
            <a:chExt cx="731520" cy="731520"/>
          </a:xfrm>
        </p:grpSpPr>
        <p:sp>
          <p:nvSpPr>
            <p:cNvPr id="14" name="Shape 11"/>
            <p:cNvSpPr/>
            <p:nvPr/>
          </p:nvSpPr>
          <p:spPr>
            <a:xfrm>
              <a:off x="3611880" y="1325880"/>
              <a:ext cx="731520" cy="731520"/>
            </a:xfrm>
            <a:prstGeom prst="ellipse">
              <a:avLst/>
            </a:prstGeom>
            <a:solidFill>
              <a:srgbClr val="8B5CF6"/>
            </a:solidFill>
            <a:ln/>
          </p:spPr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4760" y="1508760"/>
              <a:ext cx="365760" cy="365760"/>
            </a:xfrm>
            <a:prstGeom prst="rect">
              <a:avLst/>
            </a:prstGeom>
          </p:spPr>
        </p:pic>
      </p:grpSp>
      <p:sp>
        <p:nvSpPr>
          <p:cNvPr id="16" name="Text 12"/>
          <p:cNvSpPr/>
          <p:nvPr/>
        </p:nvSpPr>
        <p:spPr>
          <a:xfrm>
            <a:off x="434340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Neuromorphic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410616" y="1828800"/>
            <a:ext cx="143912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577840" y="123444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5"/>
          <p:cNvSpPr/>
          <p:nvPr/>
        </p:nvSpPr>
        <p:spPr>
          <a:xfrm>
            <a:off x="557784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17920" y="1005840"/>
            <a:ext cx="2697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005840"/>
            <a:ext cx="2697480" cy="137160"/>
          </a:xfrm>
          <a:prstGeom prst="rect">
            <a:avLst/>
          </a:prstGeom>
          <a:solidFill>
            <a:srgbClr val="EC4899"/>
          </a:solidFill>
          <a:ln/>
        </p:spPr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EF068DC-334A-36DC-1E16-3DEAB7F92968}"/>
              </a:ext>
            </a:extLst>
          </p:cNvPr>
          <p:cNvGrpSpPr/>
          <p:nvPr/>
        </p:nvGrpSpPr>
        <p:grpSpPr>
          <a:xfrm>
            <a:off x="6492240" y="1562056"/>
            <a:ext cx="731520" cy="731520"/>
            <a:chOff x="6492240" y="1325880"/>
            <a:chExt cx="731520" cy="731520"/>
          </a:xfrm>
        </p:grpSpPr>
        <p:sp>
          <p:nvSpPr>
            <p:cNvPr id="22" name="Shape 18"/>
            <p:cNvSpPr/>
            <p:nvPr/>
          </p:nvSpPr>
          <p:spPr>
            <a:xfrm>
              <a:off x="6492240" y="1325880"/>
              <a:ext cx="731520" cy="731520"/>
            </a:xfrm>
            <a:prstGeom prst="ellipse">
              <a:avLst/>
            </a:prstGeom>
            <a:solidFill>
              <a:srgbClr val="EC4899"/>
            </a:solidFill>
            <a:ln/>
          </p:spPr>
        </p:sp>
        <p:pic>
          <p:nvPicPr>
            <p:cNvPr id="2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75120" y="1508760"/>
              <a:ext cx="365760" cy="365760"/>
            </a:xfrm>
            <a:prstGeom prst="rect">
              <a:avLst/>
            </a:prstGeom>
          </p:spPr>
        </p:pic>
      </p:grpSp>
      <p:sp>
        <p:nvSpPr>
          <p:cNvPr id="24" name="Text 19"/>
          <p:cNvSpPr/>
          <p:nvPr/>
        </p:nvSpPr>
        <p:spPr>
          <a:xfrm>
            <a:off x="7290977" y="1574162"/>
            <a:ext cx="1332239" cy="300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Holographic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811762" y="1874520"/>
            <a:ext cx="9664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458200" y="123444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2"/>
          <p:cNvSpPr/>
          <p:nvPr/>
        </p:nvSpPr>
        <p:spPr>
          <a:xfrm>
            <a:off x="84582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57200" y="2926080"/>
            <a:ext cx="2697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2926080"/>
            <a:ext cx="2697480" cy="137160"/>
          </a:xfrm>
          <a:prstGeom prst="rect">
            <a:avLst/>
          </a:prstGeom>
          <a:solidFill>
            <a:srgbClr val="F59E0B"/>
          </a:solidFill>
          <a:ln/>
        </p:spPr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65A004F-F43A-BEE4-AD44-993B83CEFB16}"/>
              </a:ext>
            </a:extLst>
          </p:cNvPr>
          <p:cNvGrpSpPr/>
          <p:nvPr/>
        </p:nvGrpSpPr>
        <p:grpSpPr>
          <a:xfrm>
            <a:off x="731520" y="3524679"/>
            <a:ext cx="731520" cy="731520"/>
            <a:chOff x="731520" y="3246120"/>
            <a:chExt cx="731520" cy="731520"/>
          </a:xfrm>
        </p:grpSpPr>
        <p:sp>
          <p:nvSpPr>
            <p:cNvPr id="30" name="Shape 25"/>
            <p:cNvSpPr/>
            <p:nvPr/>
          </p:nvSpPr>
          <p:spPr>
            <a:xfrm>
              <a:off x="731520" y="3246120"/>
              <a:ext cx="731520" cy="731520"/>
            </a:xfrm>
            <a:prstGeom prst="ellipse">
              <a:avLst/>
            </a:prstGeom>
            <a:solidFill>
              <a:srgbClr val="F59E0B"/>
            </a:solidFill>
            <a:ln/>
          </p:spPr>
        </p:sp>
        <p:pic>
          <p:nvPicPr>
            <p:cNvPr id="3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4400" y="3429000"/>
              <a:ext cx="365760" cy="365760"/>
            </a:xfrm>
            <a:prstGeom prst="rect">
              <a:avLst/>
            </a:prstGeom>
          </p:spPr>
        </p:pic>
      </p:grpSp>
      <p:sp>
        <p:nvSpPr>
          <p:cNvPr id="32" name="Text 26"/>
          <p:cNvSpPr/>
          <p:nvPr/>
        </p:nvSpPr>
        <p:spPr>
          <a:xfrm>
            <a:off x="1645920" y="3524678"/>
            <a:ext cx="1371600" cy="384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Intelligence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2103118" y="3909060"/>
            <a:ext cx="91440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2697480" y="31546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29"/>
          <p:cNvSpPr/>
          <p:nvPr/>
        </p:nvSpPr>
        <p:spPr>
          <a:xfrm>
            <a:off x="269748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3337560" y="2926080"/>
            <a:ext cx="2697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337560" y="2926080"/>
            <a:ext cx="2697480" cy="137160"/>
          </a:xfrm>
          <a:prstGeom prst="rect">
            <a:avLst/>
          </a:prstGeom>
          <a:solidFill>
            <a:srgbClr val="10B981"/>
          </a:solidFill>
          <a:ln/>
        </p:spPr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A100ED5-FBA2-8343-B175-ADB56027BCC6}"/>
              </a:ext>
            </a:extLst>
          </p:cNvPr>
          <p:cNvGrpSpPr/>
          <p:nvPr/>
        </p:nvGrpSpPr>
        <p:grpSpPr>
          <a:xfrm>
            <a:off x="3611880" y="3518625"/>
            <a:ext cx="731520" cy="731520"/>
            <a:chOff x="3611880" y="3246120"/>
            <a:chExt cx="731520" cy="731520"/>
          </a:xfrm>
        </p:grpSpPr>
        <p:sp>
          <p:nvSpPr>
            <p:cNvPr id="38" name="Shape 32"/>
            <p:cNvSpPr/>
            <p:nvPr/>
          </p:nvSpPr>
          <p:spPr>
            <a:xfrm>
              <a:off x="3611880" y="3246120"/>
              <a:ext cx="731520" cy="731520"/>
            </a:xfrm>
            <a:prstGeom prst="ellipse">
              <a:avLst/>
            </a:prstGeom>
            <a:solidFill>
              <a:srgbClr val="10B981"/>
            </a:solidFill>
            <a:ln/>
          </p:spPr>
        </p:sp>
        <p:pic>
          <p:nvPicPr>
            <p:cNvPr id="39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94760" y="3429000"/>
              <a:ext cx="365760" cy="365760"/>
            </a:xfrm>
            <a:prstGeom prst="rect">
              <a:avLst/>
            </a:prstGeom>
          </p:spPr>
        </p:pic>
      </p:grpSp>
      <p:sp>
        <p:nvSpPr>
          <p:cNvPr id="40" name="Text 33"/>
          <p:cNvSpPr/>
          <p:nvPr/>
        </p:nvSpPr>
        <p:spPr>
          <a:xfrm>
            <a:off x="4526280" y="3383280"/>
            <a:ext cx="1371600" cy="595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Causality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4800600" y="3840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5577840" y="31546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36"/>
          <p:cNvSpPr/>
          <p:nvPr/>
        </p:nvSpPr>
        <p:spPr>
          <a:xfrm>
            <a:off x="557784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6217920" y="2926080"/>
            <a:ext cx="2697480" cy="164592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217920" y="2926080"/>
            <a:ext cx="2697480" cy="137160"/>
          </a:xfrm>
          <a:prstGeom prst="rect">
            <a:avLst/>
          </a:prstGeom>
          <a:solidFill>
            <a:srgbClr val="EF4444"/>
          </a:solidFill>
          <a:ln/>
        </p:spPr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39A9F76-1B10-AC6D-30F3-CB7441F26C0D}"/>
              </a:ext>
            </a:extLst>
          </p:cNvPr>
          <p:cNvGrpSpPr/>
          <p:nvPr/>
        </p:nvGrpSpPr>
        <p:grpSpPr>
          <a:xfrm>
            <a:off x="6492240" y="3554959"/>
            <a:ext cx="731520" cy="731520"/>
            <a:chOff x="6492240" y="3246120"/>
            <a:chExt cx="731520" cy="731520"/>
          </a:xfrm>
        </p:grpSpPr>
        <p:sp>
          <p:nvSpPr>
            <p:cNvPr id="46" name="Shape 39"/>
            <p:cNvSpPr/>
            <p:nvPr/>
          </p:nvSpPr>
          <p:spPr>
            <a:xfrm>
              <a:off x="6492240" y="3246120"/>
              <a:ext cx="731520" cy="731520"/>
            </a:xfrm>
            <a:prstGeom prst="ellipse">
              <a:avLst/>
            </a:prstGeom>
            <a:solidFill>
              <a:srgbClr val="EF4444"/>
            </a:solidFill>
            <a:ln/>
          </p:spPr>
        </p:sp>
        <p:pic>
          <p:nvPicPr>
            <p:cNvPr id="47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75120" y="3429000"/>
              <a:ext cx="365760" cy="365760"/>
            </a:xfrm>
            <a:prstGeom prst="rect">
              <a:avLst/>
            </a:prstGeom>
          </p:spPr>
        </p:pic>
      </p:grpSp>
      <p:sp>
        <p:nvSpPr>
          <p:cNvPr id="48" name="Text 40"/>
          <p:cNvSpPr/>
          <p:nvPr/>
        </p:nvSpPr>
        <p:spPr>
          <a:xfrm>
            <a:off x="7339423" y="3566158"/>
            <a:ext cx="14388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</a:t>
            </a:r>
            <a:endParaRPr lang="en-US" sz="1500" dirty="0"/>
          </a:p>
        </p:txBody>
      </p:sp>
      <p:sp>
        <p:nvSpPr>
          <p:cNvPr id="49" name="Text 41"/>
          <p:cNvSpPr/>
          <p:nvPr/>
        </p:nvSpPr>
        <p:spPr>
          <a:xfrm>
            <a:off x="8046718" y="3840480"/>
            <a:ext cx="731521" cy="415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300" dirty="0"/>
          </a:p>
        </p:txBody>
      </p:sp>
      <p:sp>
        <p:nvSpPr>
          <p:cNvPr id="50" name="Shape 42"/>
          <p:cNvSpPr/>
          <p:nvPr/>
        </p:nvSpPr>
        <p:spPr>
          <a:xfrm>
            <a:off x="8458200" y="31546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3"/>
          <p:cNvSpPr/>
          <p:nvPr/>
        </p:nvSpPr>
        <p:spPr>
          <a:xfrm>
            <a:off x="84582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Shape 4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Text 45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AI-Powered Resume Analyzer with 95% Skill Matching Accuracy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DEEP DIVE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51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Quantum-Inspired Retrieval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Superposition states • Parallel evaluation • 85% coherence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51560" y="1645920"/>
            <a:ext cx="3383280" cy="256032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16733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Multi-state analysis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846320" y="9144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9144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Shape 11"/>
          <p:cNvSpPr/>
          <p:nvPr/>
        </p:nvSpPr>
        <p:spPr>
          <a:xfrm>
            <a:off x="4983480" y="10515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18872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005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Neuromorphic Memory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532120" y="12618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Hebbian learning • Adaptive plasticity • Forgetting curves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532120" y="1645920"/>
            <a:ext cx="3383280" cy="256032"/>
          </a:xfrm>
          <a:prstGeom prst="rect">
            <a:avLst/>
          </a:prstGeom>
          <a:solidFill>
            <a:srgbClr val="8B5CF6">
              <a:alpha val="9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5623560" y="16733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15% improvement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65760" y="22402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240280"/>
            <a:ext cx="54864" cy="10972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Shape 18"/>
          <p:cNvSpPr/>
          <p:nvPr/>
        </p:nvSpPr>
        <p:spPr>
          <a:xfrm>
            <a:off x="502920" y="23774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1460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156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Holographic Storage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51560" y="2587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Interference patterns • 80:1 compression • Perfect reconstruction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051560" y="2971800"/>
            <a:ext cx="3383280" cy="256032"/>
          </a:xfrm>
          <a:prstGeom prst="rect">
            <a:avLst/>
          </a:prstGeom>
          <a:solidFill>
            <a:srgbClr val="EC4899">
              <a:alpha val="90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1143000" y="29992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Ultra-dense storage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846320" y="224028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846320" y="224028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5"/>
          <p:cNvSpPr/>
          <p:nvPr/>
        </p:nvSpPr>
        <p:spPr>
          <a:xfrm>
            <a:off x="4983480" y="2377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514600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3212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Intelligence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532120" y="2587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AI agents • Ant colony optimization • Consensus building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532120" y="2971800"/>
            <a:ext cx="3383280" cy="256032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5623560" y="29992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92% consensus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6" name="Shape 30"/>
          <p:cNvSpPr/>
          <p:nvPr/>
        </p:nvSpPr>
        <p:spPr>
          <a:xfrm>
            <a:off x="36576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2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840480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5156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Causality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051560" y="3913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extraction • Chain building • Future prediction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1051560" y="4297680"/>
            <a:ext cx="3383280" cy="256032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1143000" y="43251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78% prediction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4" name="Shape 37"/>
          <p:cNvSpPr/>
          <p:nvPr/>
        </p:nvSpPr>
        <p:spPr>
          <a:xfrm>
            <a:off x="484632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4846320" y="356616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Shape 39"/>
          <p:cNvSpPr/>
          <p:nvPr/>
        </p:nvSpPr>
        <p:spPr>
          <a:xfrm>
            <a:off x="4983480" y="37033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840480"/>
            <a:ext cx="182880" cy="18288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53212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RAG</a:t>
            </a:r>
            <a:endParaRPr lang="en-US" sz="1300" dirty="0"/>
          </a:p>
        </p:txBody>
      </p:sp>
      <p:sp>
        <p:nvSpPr>
          <p:cNvPr id="49" name="Text 41"/>
          <p:cNvSpPr/>
          <p:nvPr/>
        </p:nvSpPr>
        <p:spPr>
          <a:xfrm>
            <a:off x="5532120" y="3913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parallel drafts • 70B verification • Best selection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5532120" y="4297680"/>
            <a:ext cx="3383280" cy="256032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</p:spPr>
      </p:sp>
      <p:sp>
        <p:nvSpPr>
          <p:cNvPr id="51" name="Text 43"/>
          <p:cNvSpPr/>
          <p:nvPr/>
        </p:nvSpPr>
        <p:spPr>
          <a:xfrm>
            <a:off x="5623560" y="43251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50% faster (7s)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DD82AF-9409-1E44-A4DA-B6DC37AE13E7}"/>
              </a:ext>
            </a:extLst>
          </p:cNvPr>
          <p:cNvGrpSpPr/>
          <p:nvPr/>
        </p:nvGrpSpPr>
        <p:grpSpPr>
          <a:xfrm>
            <a:off x="914400" y="758068"/>
            <a:ext cx="7315200" cy="621792"/>
            <a:chOff x="914400" y="854964"/>
            <a:chExt cx="7315200" cy="621792"/>
          </a:xfrm>
        </p:grpSpPr>
        <p:sp>
          <p:nvSpPr>
            <p:cNvPr id="4" name="Shape 2"/>
            <p:cNvSpPr/>
            <p:nvPr/>
          </p:nvSpPr>
          <p:spPr>
            <a:xfrm>
              <a:off x="914400" y="854964"/>
              <a:ext cx="7315200" cy="621792"/>
            </a:xfrm>
            <a:prstGeom prst="rect">
              <a:avLst/>
            </a:prstGeom>
            <a:solidFill>
              <a:srgbClr val="028090"/>
            </a:solidFill>
            <a:ln/>
            <a:effectLst>
              <a:outerShdw blurRad="152400" dist="63500" dir="8100000" algn="bl" rotWithShape="0">
                <a:srgbClr val="000000">
                  <a:alpha val="12000"/>
                </a:srgbClr>
              </a:outerShdw>
            </a:effectLst>
          </p:spPr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AD6ED07-15AC-50FE-32CD-2BA34A2BA6ED}"/>
                </a:ext>
              </a:extLst>
            </p:cNvPr>
            <p:cNvGrpSpPr/>
            <p:nvPr/>
          </p:nvGrpSpPr>
          <p:grpSpPr>
            <a:xfrm>
              <a:off x="1033272" y="952553"/>
              <a:ext cx="457200" cy="457200"/>
              <a:chOff x="1033272" y="904105"/>
              <a:chExt cx="457200" cy="45720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1033272" y="904105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/>
            </p:spPr>
          </p:sp>
          <p:pic>
            <p:nvPicPr>
              <p:cNvPr id="6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2144" y="1022977"/>
                <a:ext cx="219456" cy="219456"/>
              </a:xfrm>
              <a:prstGeom prst="rect">
                <a:avLst/>
              </a:prstGeom>
            </p:spPr>
          </p:pic>
        </p:grpSp>
        <p:sp>
          <p:nvSpPr>
            <p:cNvPr id="7" name="Text 4"/>
            <p:cNvSpPr/>
            <p:nvPr/>
          </p:nvSpPr>
          <p:spPr>
            <a:xfrm>
              <a:off x="1627632" y="988884"/>
              <a:ext cx="63093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User Interface</a:t>
              </a:r>
              <a:endParaRPr lang="en-US" sz="16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609344" y="1226628"/>
              <a:ext cx="63093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React 18 + Material-UI</a:t>
              </a:r>
              <a:endParaRPr lang="en-US" sz="1200" dirty="0"/>
            </a:p>
          </p:txBody>
        </p:sp>
      </p:grp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434840" y="1367716"/>
            <a:ext cx="274320" cy="27432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D5F81D7-8E91-B69A-203A-41C167007F09}"/>
              </a:ext>
            </a:extLst>
          </p:cNvPr>
          <p:cNvGrpSpPr/>
          <p:nvPr/>
        </p:nvGrpSpPr>
        <p:grpSpPr>
          <a:xfrm>
            <a:off x="914400" y="1625504"/>
            <a:ext cx="7315200" cy="621792"/>
            <a:chOff x="914400" y="1764792"/>
            <a:chExt cx="7315200" cy="621792"/>
          </a:xfrm>
        </p:grpSpPr>
        <p:sp>
          <p:nvSpPr>
            <p:cNvPr id="10" name="Shape 6"/>
            <p:cNvSpPr/>
            <p:nvPr/>
          </p:nvSpPr>
          <p:spPr>
            <a:xfrm>
              <a:off x="914400" y="1764792"/>
              <a:ext cx="7315200" cy="621792"/>
            </a:xfrm>
            <a:prstGeom prst="rect">
              <a:avLst/>
            </a:prstGeom>
            <a:solidFill>
              <a:srgbClr val="8B5CF6"/>
            </a:solidFill>
            <a:ln/>
            <a:effectLst>
              <a:outerShdw blurRad="152400" dist="635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Shape 7"/>
            <p:cNvSpPr/>
            <p:nvPr/>
          </p:nvSpPr>
          <p:spPr>
            <a:xfrm>
              <a:off x="1051560" y="1847088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0432" y="1965960"/>
              <a:ext cx="219456" cy="219456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1645920" y="1874520"/>
              <a:ext cx="63093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Backend API</a:t>
              </a:r>
              <a:endParaRPr lang="en-US" sz="16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1645920" y="2112264"/>
              <a:ext cx="63093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FastAPI + LangGraph Workflow</a:t>
              </a:r>
              <a:endParaRPr lang="en-US" sz="1200" dirty="0"/>
            </a:p>
          </p:txBody>
        </p:sp>
      </p:grp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434840" y="2247296"/>
            <a:ext cx="274320" cy="27432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434840" y="3109200"/>
            <a:ext cx="274320" cy="27432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DD0A529-1EFB-8540-20E0-890488029730}"/>
              </a:ext>
            </a:extLst>
          </p:cNvPr>
          <p:cNvGrpSpPr/>
          <p:nvPr/>
        </p:nvGrpSpPr>
        <p:grpSpPr>
          <a:xfrm>
            <a:off x="914400" y="2493464"/>
            <a:ext cx="7315200" cy="621792"/>
            <a:chOff x="914400" y="2523744"/>
            <a:chExt cx="7315200" cy="621792"/>
          </a:xfrm>
        </p:grpSpPr>
        <p:sp>
          <p:nvSpPr>
            <p:cNvPr id="16" name="Shape 10"/>
            <p:cNvSpPr/>
            <p:nvPr/>
          </p:nvSpPr>
          <p:spPr>
            <a:xfrm>
              <a:off x="914400" y="2523744"/>
              <a:ext cx="7315200" cy="621792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52400" dist="635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Shape 11"/>
            <p:cNvSpPr/>
            <p:nvPr/>
          </p:nvSpPr>
          <p:spPr>
            <a:xfrm>
              <a:off x="1051560" y="2606040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</p:sp>
        <p:pic>
          <p:nvPicPr>
            <p:cNvPr id="18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70432" y="2724912"/>
              <a:ext cx="219456" cy="219456"/>
            </a:xfrm>
            <a:prstGeom prst="rect">
              <a:avLst/>
            </a:prstGeom>
          </p:spPr>
        </p:pic>
        <p:sp>
          <p:nvSpPr>
            <p:cNvPr id="19" name="Text 12"/>
            <p:cNvSpPr/>
            <p:nvPr/>
          </p:nvSpPr>
          <p:spPr>
            <a:xfrm>
              <a:off x="1645920" y="2633472"/>
              <a:ext cx="63093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Technology Layer</a:t>
              </a:r>
              <a:endParaRPr lang="en-US" sz="1600" dirty="0"/>
            </a:p>
          </p:txBody>
        </p:sp>
        <p:sp>
          <p:nvSpPr>
            <p:cNvPr id="20" name="Text 13"/>
            <p:cNvSpPr/>
            <p:nvPr/>
          </p:nvSpPr>
          <p:spPr>
            <a:xfrm>
              <a:off x="1645920" y="2871216"/>
              <a:ext cx="63093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 Revolutionary Services + Resume Analyzer</a:t>
              </a:r>
              <a:endParaRPr lang="en-US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6A5360-9EF6-F309-A4F5-56355594BD65}"/>
              </a:ext>
            </a:extLst>
          </p:cNvPr>
          <p:cNvGrpSpPr/>
          <p:nvPr/>
        </p:nvGrpSpPr>
        <p:grpSpPr>
          <a:xfrm>
            <a:off x="914400" y="3367476"/>
            <a:ext cx="7315200" cy="621792"/>
            <a:chOff x="914400" y="3282696"/>
            <a:chExt cx="7315200" cy="621792"/>
          </a:xfrm>
        </p:grpSpPr>
        <p:sp>
          <p:nvSpPr>
            <p:cNvPr id="22" name="Shape 14"/>
            <p:cNvSpPr/>
            <p:nvPr/>
          </p:nvSpPr>
          <p:spPr>
            <a:xfrm>
              <a:off x="914400" y="3282696"/>
              <a:ext cx="7315200" cy="621792"/>
            </a:xfrm>
            <a:prstGeom prst="rect">
              <a:avLst/>
            </a:prstGeom>
            <a:solidFill>
              <a:srgbClr val="EC4899"/>
            </a:solidFill>
            <a:ln/>
            <a:effectLst>
              <a:outerShdw blurRad="152400" dist="635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Shape 15"/>
            <p:cNvSpPr/>
            <p:nvPr/>
          </p:nvSpPr>
          <p:spPr>
            <a:xfrm>
              <a:off x="1051560" y="3364992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</p:sp>
        <p:pic>
          <p:nvPicPr>
            <p:cNvPr id="24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0432" y="3483864"/>
              <a:ext cx="219456" cy="219456"/>
            </a:xfrm>
            <a:prstGeom prst="rect">
              <a:avLst/>
            </a:prstGeom>
          </p:spPr>
        </p:pic>
        <p:sp>
          <p:nvSpPr>
            <p:cNvPr id="25" name="Text 16"/>
            <p:cNvSpPr/>
            <p:nvPr/>
          </p:nvSpPr>
          <p:spPr>
            <a:xfrm>
              <a:off x="1645920" y="3392424"/>
              <a:ext cx="63093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Database</a:t>
              </a:r>
              <a:endParaRPr lang="en-US" sz="1600" dirty="0"/>
            </a:p>
          </p:txBody>
        </p:sp>
        <p:sp>
          <p:nvSpPr>
            <p:cNvPr id="26" name="Text 17"/>
            <p:cNvSpPr/>
            <p:nvPr/>
          </p:nvSpPr>
          <p:spPr>
            <a:xfrm>
              <a:off x="1645920" y="3630168"/>
              <a:ext cx="63093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PostgreSQL (pgvector) + Neo4j</a:t>
              </a:r>
              <a:endParaRPr lang="en-US" sz="1200" dirty="0"/>
            </a:p>
          </p:txBody>
        </p:sp>
      </p:grp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434840" y="3983212"/>
            <a:ext cx="274320" cy="27432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DBD7E94-DC5A-B1CD-C912-3FA0B43A764B}"/>
              </a:ext>
            </a:extLst>
          </p:cNvPr>
          <p:cNvGrpSpPr/>
          <p:nvPr/>
        </p:nvGrpSpPr>
        <p:grpSpPr>
          <a:xfrm>
            <a:off x="914400" y="4247543"/>
            <a:ext cx="7315200" cy="621792"/>
            <a:chOff x="914400" y="4041648"/>
            <a:chExt cx="7315200" cy="621792"/>
          </a:xfrm>
        </p:grpSpPr>
        <p:sp>
          <p:nvSpPr>
            <p:cNvPr id="28" name="Shape 18"/>
            <p:cNvSpPr/>
            <p:nvPr/>
          </p:nvSpPr>
          <p:spPr>
            <a:xfrm>
              <a:off x="914400" y="4041648"/>
              <a:ext cx="7315200" cy="621792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152400" dist="635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9" name="Shape 19"/>
            <p:cNvSpPr/>
            <p:nvPr/>
          </p:nvSpPr>
          <p:spPr>
            <a:xfrm>
              <a:off x="1051560" y="4123944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</p:sp>
        <p:pic>
          <p:nvPicPr>
            <p:cNvPr id="30" name="Image 8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70432" y="4242816"/>
              <a:ext cx="219456" cy="219456"/>
            </a:xfrm>
            <a:prstGeom prst="rect">
              <a:avLst/>
            </a:prstGeom>
          </p:spPr>
        </p:pic>
        <p:sp>
          <p:nvSpPr>
            <p:cNvPr id="31" name="Text 20"/>
            <p:cNvSpPr/>
            <p:nvPr/>
          </p:nvSpPr>
          <p:spPr>
            <a:xfrm>
              <a:off x="1645920" y="4151376"/>
              <a:ext cx="63093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Models</a:t>
              </a:r>
              <a:endParaRPr lang="en-US" sz="1600" dirty="0"/>
            </a:p>
          </p:txBody>
        </p:sp>
        <p:sp>
          <p:nvSpPr>
            <p:cNvPr id="32" name="Text 21"/>
            <p:cNvSpPr/>
            <p:nvPr/>
          </p:nvSpPr>
          <p:spPr>
            <a:xfrm>
              <a:off x="1645920" y="4389120"/>
              <a:ext cx="63093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FFFFFF">
                      <a:alpha val="80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Google Gemini 2.5 Flash Preview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-308838" y="106577"/>
            <a:ext cx="92953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OUTSTANDING PERFORMANCE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38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11480" y="23591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5237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faster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8872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1938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2606040" y="23591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25237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09160" y="11887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188720"/>
            <a:ext cx="2011680" cy="10972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417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0600" y="1938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4800600" y="23591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00600" y="25237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903720" y="11887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18872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4173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1938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6995160" y="23591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95160" y="25237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20040" y="30175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01752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24612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11480" y="3767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600" dirty="0"/>
          </a:p>
        </p:txBody>
      </p:sp>
      <p:sp>
        <p:nvSpPr>
          <p:cNvPr id="32" name="Text 25"/>
          <p:cNvSpPr/>
          <p:nvPr/>
        </p:nvSpPr>
        <p:spPr>
          <a:xfrm>
            <a:off x="411480" y="4187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11480" y="43525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2514600" y="30175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514600" y="3017520"/>
            <a:ext cx="2011680" cy="109728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246120"/>
            <a:ext cx="457200" cy="4572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606040" y="3767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80:1</a:t>
            </a:r>
            <a:endParaRPr lang="en-US" sz="3600" dirty="0"/>
          </a:p>
        </p:txBody>
      </p:sp>
      <p:sp>
        <p:nvSpPr>
          <p:cNvPr id="38" name="Text 30"/>
          <p:cNvSpPr/>
          <p:nvPr/>
        </p:nvSpPr>
        <p:spPr>
          <a:xfrm>
            <a:off x="2606040" y="4187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2606040" y="43525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709160" y="30175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709160" y="3017520"/>
            <a:ext cx="2011680" cy="10972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246120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800600" y="3767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3600" dirty="0"/>
          </a:p>
        </p:txBody>
      </p:sp>
      <p:sp>
        <p:nvSpPr>
          <p:cNvPr id="44" name="Text 35"/>
          <p:cNvSpPr/>
          <p:nvPr/>
        </p:nvSpPr>
        <p:spPr>
          <a:xfrm>
            <a:off x="4800600" y="4187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4800600" y="43525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6903720" y="301752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90500" dist="635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903720" y="301752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3246120"/>
            <a:ext cx="457200" cy="45720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995160" y="37673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600" dirty="0"/>
          </a:p>
        </p:txBody>
      </p:sp>
      <p:sp>
        <p:nvSpPr>
          <p:cNvPr id="50" name="Text 40"/>
          <p:cNvSpPr/>
          <p:nvPr/>
        </p:nvSpPr>
        <p:spPr>
          <a:xfrm>
            <a:off x="6995160" y="418795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6995160" y="4352544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RESUME ANALYZER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4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Identification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0574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Scoring &amp; Optimization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Analysis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Evaluation</a:t>
            </a:r>
            <a:endParaRPr lang="en-US" sz="13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66160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0584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Skill Matching Accuracy</a:t>
            </a:r>
            <a:endParaRPr lang="en-US" sz="1300" dirty="0"/>
          </a:p>
        </p:txBody>
      </p:sp>
      <p:sp>
        <p:nvSpPr>
          <p:cNvPr id="19" name="Shape 10"/>
          <p:cNvSpPr/>
          <p:nvPr/>
        </p:nvSpPr>
        <p:spPr>
          <a:xfrm>
            <a:off x="4663440" y="932688"/>
            <a:ext cx="4114800" cy="3840480"/>
          </a:xfrm>
          <a:prstGeom prst="rect">
            <a:avLst/>
          </a:prstGeom>
          <a:solidFill>
            <a:srgbClr val="028090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1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1" name="Shape 12"/>
          <p:cNvSpPr/>
          <p:nvPr/>
        </p:nvSpPr>
        <p:spPr>
          <a:xfrm>
            <a:off x="4892040" y="148898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3"/>
          <p:cNvSpPr/>
          <p:nvPr/>
        </p:nvSpPr>
        <p:spPr>
          <a:xfrm>
            <a:off x="4892040" y="14889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525780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resume + job description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4893705" y="206154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16"/>
          <p:cNvSpPr/>
          <p:nvPr/>
        </p:nvSpPr>
        <p:spPr>
          <a:xfrm>
            <a:off x="4890375" y="20706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301855" y="2020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 key information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887875" y="2601044"/>
            <a:ext cx="320041" cy="320039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19"/>
          <p:cNvSpPr/>
          <p:nvPr/>
        </p:nvSpPr>
        <p:spPr>
          <a:xfrm>
            <a:off x="4893705" y="26289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5301855" y="2588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skills, experience, education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4887875" y="314671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2"/>
          <p:cNvSpPr/>
          <p:nvPr/>
        </p:nvSpPr>
        <p:spPr>
          <a:xfrm>
            <a:off x="4922997" y="3150532"/>
            <a:ext cx="249795" cy="296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5301855" y="3085979"/>
            <a:ext cx="3200400" cy="389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against requirements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893705" y="3644898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5"/>
          <p:cNvSpPr/>
          <p:nvPr/>
        </p:nvSpPr>
        <p:spPr>
          <a:xfrm>
            <a:off x="4832392" y="3515747"/>
            <a:ext cx="471128" cy="571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5303520" y="368142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comprehensive report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889315" y="4128516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28"/>
          <p:cNvSpPr/>
          <p:nvPr/>
        </p:nvSpPr>
        <p:spPr>
          <a:xfrm>
            <a:off x="4832392" y="3953175"/>
            <a:ext cx="425408" cy="664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349240" y="416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actionable recommendations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663440" y="4498848"/>
            <a:ext cx="411480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1"/>
          <p:cNvSpPr/>
          <p:nvPr/>
        </p:nvSpPr>
        <p:spPr>
          <a:xfrm>
            <a:off x="4754880" y="45445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Gemini 2.5 Flash Preview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137160" cy="137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Academia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15544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automation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8470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184708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 analysis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1396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13969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tracking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91440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914400"/>
            <a:ext cx="4206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Shape 14"/>
          <p:cNvSpPr/>
          <p:nvPr/>
        </p:nvSpPr>
        <p:spPr>
          <a:xfrm>
            <a:off x="4983480" y="10058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97280"/>
            <a:ext cx="137160" cy="1371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1024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Enterprise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029200" y="1554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257800" y="155448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document analysis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0" y="18470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257800" y="184708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summarization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29200" y="21396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257800" y="213969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management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65760" y="288036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65760" y="2880360"/>
            <a:ext cx="4206240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2920" y="297180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63240"/>
            <a:ext cx="137160" cy="1371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4400" y="2990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48640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</a:rPr>
              <a:t>•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777240" y="35204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analysis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48640" y="38130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</a:rPr>
              <a:t>•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77240" y="38130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law research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48640" y="41056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</a:rPr>
              <a:t>•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777240" y="410565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4846320" y="2880360"/>
            <a:ext cx="4206240" cy="1691640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846320" y="2880360"/>
            <a:ext cx="42062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4"/>
          <p:cNvSpPr/>
          <p:nvPr/>
        </p:nvSpPr>
        <p:spPr>
          <a:xfrm>
            <a:off x="4983480" y="297180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63240"/>
            <a:ext cx="137160" cy="13716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394960" y="2990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&amp; Recruitment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5029200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•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5257800" y="35204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screening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029200" y="381304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•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5257800" y="381304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evaluation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5029200" y="41056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•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5257800" y="410565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051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603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2560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Material-UI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8803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2880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200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200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•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35204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9184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91840" y="914400"/>
            <a:ext cx="27432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8"/>
          <p:cNvSpPr/>
          <p:nvPr/>
        </p:nvSpPr>
        <p:spPr>
          <a:xfrm>
            <a:off x="4297680" y="1051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23444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3566160" y="22402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794760" y="2240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566160" y="25603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•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794760" y="2560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566160" y="28803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794760" y="2880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566160" y="3200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•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794760" y="3200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566160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794760" y="35204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566160" y="3840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•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3794760" y="38404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21792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217920" y="914400"/>
            <a:ext cx="27432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Shape 34"/>
          <p:cNvSpPr/>
          <p:nvPr/>
        </p:nvSpPr>
        <p:spPr>
          <a:xfrm>
            <a:off x="7223760" y="1051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234440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6492240" y="22402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•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6720840" y="224028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Preview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492240" y="25603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•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6720840" y="2560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Transformers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492240" y="288036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•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6720840" y="2880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Neural Networks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6492240" y="3200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•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6720840" y="3200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7132320" cy="457200"/>
          </a:xfrm>
          <a:prstGeom prst="rect">
            <a:avLst/>
          </a:prstGeom>
          <a:solidFill>
            <a:srgbClr val="028090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Research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6459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1828800"/>
            <a:ext cx="7132320" cy="457200"/>
          </a:xfrm>
          <a:prstGeom prst="rect">
            <a:avLst/>
          </a:prstGeom>
          <a:solidFill>
            <a:srgbClr val="8B5CF6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Setup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23317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554480" y="2514600"/>
            <a:ext cx="7132320" cy="457200"/>
          </a:xfrm>
          <a:prstGeom prst="rect">
            <a:avLst/>
          </a:prstGeom>
          <a:solidFill>
            <a:srgbClr val="10B981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Development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30175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1546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554480" y="3200400"/>
            <a:ext cx="7132320" cy="457200"/>
          </a:xfrm>
          <a:prstGeom prst="rect">
            <a:avLst/>
          </a:prstGeom>
          <a:solidFill>
            <a:srgbClr val="F59E0B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Testing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370332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554480" y="3886200"/>
            <a:ext cx="7132320" cy="457200"/>
          </a:xfrm>
          <a:prstGeom prst="rect">
            <a:avLst/>
          </a:prstGeom>
          <a:solidFill>
            <a:srgbClr val="EC4899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3736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Documentation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3931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554480" y="4572000"/>
            <a:ext cx="713232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1737360" y="46177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Duration: 14 weeks  |  Agile Methodology with Daily Standups &amp; Sprint Reviews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075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43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technology integration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801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11430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architecture with clear interfaces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196596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1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2677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103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8872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402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29200" y="2103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02920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 + intelligent caching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2926080"/>
            <a:ext cx="73152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Shape 18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22783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3063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887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synchronization</a:t>
            </a:r>
            <a:endParaRPr lang="en-US" sz="13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004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29200" y="30632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02920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transaction management system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65760" y="3886200"/>
            <a:ext cx="73152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Shape 2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18795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88720" y="4023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8872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coordination across roles</a:t>
            </a:r>
            <a:endParaRPr lang="en-US" sz="13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160520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29200" y="40233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502920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communication protocols &amp; daily standups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15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 Swamy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0" y="117043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coordination, integration &amp; architecture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755648"/>
            <a:ext cx="8229600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755648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86537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Eswar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21214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08960" y="19202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design, data pipeline &amp; optimization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505456"/>
            <a:ext cx="8229600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505456"/>
            <a:ext cx="73152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26151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Durga Reddy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5800" y="287121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Builder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108960" y="267004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models, algorithms &amp; neural networks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8229600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255264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3649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Devesh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5800" y="36210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Demo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108960" y="3419856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Documentation, demos &amp; user experience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05072"/>
            <a:ext cx="8229600" cy="658368"/>
          </a:xfrm>
          <a:prstGeom prst="rect">
            <a:avLst/>
          </a:prstGeom>
          <a:solidFill>
            <a:srgbClr val="F8FAFC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4005072"/>
            <a:ext cx="73152" cy="65836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114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Sakshi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5800" y="4370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Testing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108960" y="416966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quality assurance &amp; testing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SUCCESS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31520" y="283464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5387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Revolutionary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283464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566160" y="33375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66160" y="35387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Traditional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83464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309360" y="33375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35387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406908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822960" y="4572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477316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474720" y="406908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6616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3566160" y="4572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566160" y="477316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4069080"/>
            <a:ext cx="23774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0936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6309360" y="4572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Success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309360" y="477316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(Q1-Q2)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integration for scanned docs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566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 (iOS/Android)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91440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(Q3-Q4)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1828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8620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collaboration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26974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8620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data visualizations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5661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3566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SSO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91440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635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(Year 2+)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0" y="18288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18288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at scale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6974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model training platform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566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12280" y="3566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API marketplace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731520"/>
            <a:ext cx="2286000" cy="2286000"/>
          </a:xfrm>
          <a:prstGeom prst="ellipse">
            <a:avLst/>
          </a:prstGeom>
          <a:solidFill>
            <a:srgbClr val="028090"/>
          </a:solidFill>
          <a:ln/>
          <a:effectLst>
            <a:outerShdw blurRad="254000" dist="1016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37160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828800" y="4297680"/>
            <a:ext cx="5486400" cy="640080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01168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013 - SIC Capstone 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 Swamy • Eswar • Durga Reddy • Devesh • Sakshi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718</Words>
  <Application>Microsoft Office PowerPoint</Application>
  <PresentationFormat>On-screen Show (16:9)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Agent - Revolutionary RAG System</dc:title>
  <dc:subject>PptxGenJS Presentation</dc:subject>
  <dc:creator>Team 013</dc:creator>
  <cp:lastModifiedBy>VASAMSETTI BALASWAMY</cp:lastModifiedBy>
  <cp:revision>7</cp:revision>
  <dcterms:created xsi:type="dcterms:W3CDTF">2026-02-13T09:50:14Z</dcterms:created>
  <dcterms:modified xsi:type="dcterms:W3CDTF">2026-02-13T10:41:00Z</dcterms:modified>
</cp:coreProperties>
</file>